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3474720" cy="5097780"/>
          </a:xfrm>
          <a:prstGeom prst="rect">
            <a:avLst/>
          </a:prstGeom>
          <a:solidFill>
            <a:srgbClr val="5A2438"/>
          </a:solidFill>
          <a:ln w="12700">
            <a:solidFill>
              <a:srgbClr val="5A24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PRESSCO21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and ever and Blooming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560320" cy="2743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1999년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4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30632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4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4,000명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" y="3703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4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1,200명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" y="4343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4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강사회원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49040" y="822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꽃공예 협회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49040" y="13258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파트너십 제안서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749040" y="2468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비용은 없고, 혜택만 있습니다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49040" y="3017520"/>
            <a:ext cx="4663440" cy="2743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3200400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69080" y="3218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할인 쿠폰 제공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49240" y="3200400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3218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적립금 풀 운영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0" y="3200400"/>
            <a:ext cx="256032" cy="25603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69480" y="3218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무료 게시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49040" y="4480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3월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PRESSCO21은 이런 회사입니다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꽃 공예 재료 분야 국내 선두 업체 · 업력 27년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PRESSCO21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344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34440"/>
            <a:ext cx="64008" cy="1463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" y="13441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사업 분야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737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압화·플로리스트·레진·캔들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꽃 공예 재료 제조·유통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2344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234440"/>
            <a:ext cx="64008" cy="1463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23560" y="13441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역사와 신뢰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23560" y="17373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1982년 압화 연구 시작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1999년 창업 · 현재 27년 업력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34640"/>
            <a:ext cx="64008" cy="1463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97280" y="29443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회원 규모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337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회원 약 4,000명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 회원 약 1,200명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8346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834640"/>
            <a:ext cx="64008" cy="1463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623560" y="29443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역량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23560" y="33375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다수 특허 보유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방송·전시·국제 교류 경력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F0E8E2"/>
          </a:solidFill>
          <a:ln w="12700">
            <a:solidFill>
              <a:srgbClr val="E8D8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622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3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"재료를 판매하는 데 그치지 않고, 꽃 공예를 하는 모든 분이 더 쉽고 즐겁게 활동할 수 있는 환경을 만들어갑니다"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파트너클래스 플랫폼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PRESSCO21이 자체 개발·운영하는 클래스 예약 플랫폼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PRESSCO21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71600"/>
            <a:ext cx="1097280" cy="109728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74520" y="1883664"/>
            <a:ext cx="274320" cy="54864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18013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6769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1371600"/>
            <a:ext cx="1097280" cy="109728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7744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9456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검색·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11880" y="1883664"/>
            <a:ext cx="274320" cy="54864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18013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6769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1371600"/>
            <a:ext cx="1097280" cy="109728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93192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49240" y="1883664"/>
            <a:ext cx="274320" cy="54864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18013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6769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1371600"/>
            <a:ext cx="1097280" cy="109728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5216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66928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86600" y="1883664"/>
            <a:ext cx="274320" cy="54864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96912" y="18013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6769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89520" y="1371600"/>
            <a:ext cx="1097280" cy="10972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895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🛍️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40664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강사(파트너)가 얻는 것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2461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246120"/>
            <a:ext cx="2743200" cy="640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33756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홈페이지 없이도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클래스 페이지 보유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54680" y="32461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54680" y="3246120"/>
            <a:ext cx="2743200" cy="640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33756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PRESSCO21 회원 4,000명에게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자연스러운 홍보 효과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35040" y="32461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3246120"/>
            <a:ext cx="2743200" cy="640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333756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수강료 정산금을 적립금으로 전환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재료 할인 구매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협회와 함께하면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이렇게 좋습니다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828800" cy="2560320"/>
          </a:xfrm>
          <a:prstGeom prst="rect">
            <a:avLst/>
          </a:prstGeom>
          <a:solidFill>
            <a:srgbClr val="5A2438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920240"/>
            <a:ext cx="731520" cy="7315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협회원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할인 쿠폰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10~20% 재료 구매 할인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828800"/>
            <a:ext cx="1828800" cy="2560320"/>
          </a:xfrm>
          <a:prstGeom prst="rect">
            <a:avLst/>
          </a:prstGeom>
          <a:solidFill>
            <a:srgbClr val="5A2438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17520" y="1920240"/>
            <a:ext cx="731520" cy="7315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60320" y="2788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공동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적립금 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구매 실적 → 협회 인센티브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828800"/>
            <a:ext cx="1828800" cy="2560320"/>
          </a:xfrm>
          <a:prstGeom prst="rect">
            <a:avLst/>
          </a:prstGeom>
          <a:solidFill>
            <a:srgbClr val="5A2438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20640" y="1920240"/>
            <a:ext cx="731520" cy="7315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63440" y="2788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플랫폼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홍보 채널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협회 행사 무료 게시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1828800"/>
            <a:ext cx="1828800" cy="2560320"/>
          </a:xfrm>
          <a:prstGeom prst="rect">
            <a:avLst/>
          </a:prstGeom>
          <a:solidFill>
            <a:srgbClr val="5A2438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0" y="1920240"/>
            <a:ext cx="731520" cy="7315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66560" y="2788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등급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우선 부여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3520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협회 인증 강사 심사 간소화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별도의 비용 부담 없이, 협회원에게 실질적인 혜택을 제공할 수 있습니다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제안 1 · 협회원 전용 할인 쿠폰 제공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PRESSCO21 자사몰에서 사용할 수 있는 재료 구매 할인 쿠폰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PRESSCO21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43000"/>
            <a:ext cx="4754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43000"/>
            <a:ext cx="1645920" cy="2926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430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26060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협회원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~ 20%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10312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PRESSCO21 자사몰 재료 할인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1680" y="2514600"/>
            <a:ext cx="164592" cy="164592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2496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할인율: 10~20% (협회별 협의)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0" y="2889504"/>
            <a:ext cx="164592" cy="164592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28712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대상: 자사몰 전 상품 또는 특정 카테고리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0" y="3264408"/>
            <a:ext cx="164592" cy="164592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3246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방식: 협회 전용 쿠폰 코드 발급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11680" y="3639312"/>
            <a:ext cx="164592" cy="164592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36210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갱신: 연간 계약, 반기별 조건 검토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12080" y="1143000"/>
            <a:ext cx="3657600" cy="2926080"/>
          </a:xfrm>
          <a:prstGeom prst="rect">
            <a:avLst/>
          </a:prstGeom>
          <a:solidFill>
            <a:srgbClr val="F0E8E2"/>
          </a:solidFill>
          <a:ln w="12700">
            <a:solidFill>
              <a:srgbClr val="E0CAB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12080" y="1143000"/>
            <a:ext cx="3657600" cy="4114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1161288"/>
            <a:ext cx="3474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협회가 얻는 것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16916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60720" y="16642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협회원에게 즉시 체감 가능한 혜택 제공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23774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60720" y="23500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재료비 부담 경감 → 협회 활동 참여율 향상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30632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60720" y="30358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"우리 협회에 가입하면 이런 혜택이" 가입 유인 효과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제안 2 · 협회 공동 적립금 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협회원 연간 누적 구매액 달성 시 → 협회에 인센티브 적립금 지급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PRESSCO21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43000"/>
            <a:ext cx="2331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286000"/>
            <a:ext cx="1005840" cy="731520"/>
          </a:xfrm>
          <a:prstGeom prst="rect">
            <a:avLst/>
          </a:prstGeom>
          <a:solidFill>
            <a:srgbClr val="D4A5B0"/>
          </a:solidFill>
          <a:ln w="12700">
            <a:solidFill>
              <a:srgbClr val="D4A5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34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3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25만원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1691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인센티브 적립금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500만원 이상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80360" y="1143000"/>
            <a:ext cx="2331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20440" y="1737360"/>
            <a:ext cx="1005840" cy="12801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1234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3D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50만원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17520" y="1691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인센티브 적립금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71800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1,000만원 이상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1143000"/>
            <a:ext cx="2331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188720"/>
            <a:ext cx="1005840" cy="1828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1234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120만원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23560" y="16916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인센티브 적립금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77840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2,000만원 이상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434840"/>
            <a:ext cx="859536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370832"/>
            <a:ext cx="8595360" cy="0"/>
          </a:xfrm>
          <a:prstGeom prst="rect">
            <a:avLst/>
          </a:prstGeom>
          <a:noFill/>
          <a:ln/>
        </p:spPr>
      </p:sp>
      <p:sp>
        <p:nvSpPr>
          <p:cNvPr id="25" name="Text 23"/>
          <p:cNvSpPr/>
          <p:nvPr/>
        </p:nvSpPr>
        <p:spPr>
          <a:xfrm>
            <a:off x="320040" y="4480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적립금 활용 방안: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48840" y="44805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세미나·워크숍 재료비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86200" y="44805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협회 행사 운영비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44805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회원 대상 경품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60920" y="44805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전시회 부스 재료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제안 3 &amp; 4 · 플랫폼 홍보 + 등급 우선 부여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협회의 행사·교육을 플랫폼에 무료 게시 + 협회 인증 강사 혜택 강화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PRESSCO21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97280"/>
            <a:ext cx="4114800" cy="4572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제안 3  클래스 플랫폼 홍보 채널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169164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 비용: 무료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20370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20370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협회 공식 배지 + 로고와 함께 노출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71576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📲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271576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통해 예약 시 수강생 적립금 추가 제공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22783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22783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PRESSCO21 회원 4,000명에게 노출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3989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373989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예약·결제 인프라 무료 활용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097280"/>
            <a:ext cx="4297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097280"/>
            <a:ext cx="429768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1155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제안 4  파트너스 등급 우선 부여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64208"/>
          <a:ext cx="4114800" cy="269748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645920"/>
              </a:tblGrid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구분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일반 강사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협회 인증 강사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파트너 심사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개별 심사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(1~3 영업일)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협회 인증으로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간소화 심사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초기 등급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인스트럭터 (기본)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인스트럭터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추가 혜택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재료 할인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등급 할인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협회원 할인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중복 적용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플랫폼 노출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1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일반 노출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협회 배지 부착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우선 노출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A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제안 조건 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비용은 PRESSCO21이 부담합니다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PRESSCO21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188720"/>
            <a:ext cx="18288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계약 형태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11887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협약 (MOU)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91640"/>
            <a:ext cx="8595360" cy="457200"/>
          </a:xfrm>
          <a:prstGeom prst="rect">
            <a:avLst/>
          </a:prstGeom>
          <a:solidFill>
            <a:srgbClr val="F7F1EE"/>
          </a:solidFill>
          <a:ln w="12700">
            <a:solidFill>
              <a:srgbClr val="E8D8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691640"/>
            <a:ext cx="18288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계약 기간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16916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 단위, 자동 갱신 (쌍방 1개월 전 해지 통보)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194560"/>
            <a:ext cx="18288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협회 비용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40280" y="21945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 — PRESSCO21이 플랫폼 운영비 전액 부담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697480"/>
            <a:ext cx="8595360" cy="457200"/>
          </a:xfrm>
          <a:prstGeom prst="rect">
            <a:avLst/>
          </a:prstGeom>
          <a:solidFill>
            <a:srgbClr val="F7F1EE"/>
          </a:solidFill>
          <a:ln w="12700">
            <a:solidFill>
              <a:srgbClr val="E8D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697480"/>
            <a:ext cx="18288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할인 조건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40280" y="26974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협회별 개별 협의 (10~20% 범위)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20040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200400"/>
            <a:ext cx="18288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인센티브 기준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40280" y="32004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협회 규모에 따라 맞춤 설계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8595360" cy="457200"/>
          </a:xfrm>
          <a:prstGeom prst="rect">
            <a:avLst/>
          </a:prstGeom>
          <a:solidFill>
            <a:srgbClr val="F7F1EE"/>
          </a:solidFill>
          <a:ln w="12700">
            <a:solidFill>
              <a:srgbClr val="E8D8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703320"/>
            <a:ext cx="18288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703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 관리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40280" y="37033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PRESSCO21 개인정보 처리방침에 따라 안전 관리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206240"/>
            <a:ext cx="18288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중도 해지 시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40280" y="42062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기발급 쿠폰 유효기간까지 사용, 미지급 인센티브는 협의 후 정산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단계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제안에 관심이 있으시다면 아래 순서로 진행합니다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0" y="274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PRESSCO21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51760"/>
            <a:ext cx="8229600" cy="73152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450592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280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상세 조건 협의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미팅을 통한 세부 조건 논의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063240"/>
            <a:ext cx="1234440" cy="347472"/>
          </a:xfrm>
          <a:prstGeom prst="rect">
            <a:avLst/>
          </a:prstGeom>
          <a:solidFill>
            <a:srgbClr val="ECE2D0"/>
          </a:solidFill>
          <a:ln w="12700">
            <a:solidFill>
              <a:srgbClr val="E0CA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632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2450592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6888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1280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 초안 작성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양측 검토 및 수정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40280" y="3063240"/>
            <a:ext cx="1234440" cy="347472"/>
          </a:xfrm>
          <a:prstGeom prst="rect">
            <a:avLst/>
          </a:prstGeom>
          <a:solidFill>
            <a:srgbClr val="ECE2D0"/>
          </a:solidFill>
          <a:ln w="12700">
            <a:solidFill>
              <a:srgbClr val="E0CA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30632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2450592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49040" y="1280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 체결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서명 및 파트너십 공식 시작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86200" y="3063240"/>
            <a:ext cx="1234440" cy="347472"/>
          </a:xfrm>
          <a:prstGeom prst="rect">
            <a:avLst/>
          </a:prstGeom>
          <a:solidFill>
            <a:srgbClr val="ECE2D0"/>
          </a:solidFill>
          <a:ln w="12700">
            <a:solidFill>
              <a:srgbClr val="E0CA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30632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2450592"/>
            <a:ext cx="457200" cy="45720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6072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1280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쿠폰 코드 발급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협회원 대상 안내 및 배포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32120" y="3063240"/>
            <a:ext cx="1234440" cy="347472"/>
          </a:xfrm>
          <a:prstGeom prst="rect">
            <a:avLst/>
          </a:prstGeom>
          <a:solidFill>
            <a:srgbClr val="ECE2D0"/>
          </a:solidFill>
          <a:ln w="12700">
            <a:solidFill>
              <a:srgbClr val="E0CA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30632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06640" y="2450592"/>
            <a:ext cx="457200" cy="45720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06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40880" y="1280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플랫폼 게시 시작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17373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협회 행사 등록 및 노출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78040" y="3063240"/>
            <a:ext cx="1234440" cy="347472"/>
          </a:xfrm>
          <a:prstGeom prst="rect">
            <a:avLst/>
          </a:prstGeom>
          <a:solidFill>
            <a:srgbClr val="ECE2D0"/>
          </a:solidFill>
          <a:ln w="12700">
            <a:solidFill>
              <a:srgbClr val="E0CAB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30632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수시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3749040"/>
            <a:ext cx="8595360" cy="822960"/>
          </a:xfrm>
          <a:prstGeom prst="rect">
            <a:avLst/>
          </a:prstGeom>
          <a:solidFill>
            <a:srgbClr val="F0E8E2"/>
          </a:solidFill>
          <a:ln w="12700">
            <a:solidFill>
              <a:srgbClr val="E0CAB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76732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관심 있으신 협회라면, 가벼운 미팅부터 시작해도 좋습니다.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언제든지 연락 주세요.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꽃의 아름다움을, 함께 전해요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꽃 공예를 사랑하는 모든 분이 더 편하게, 더 즐겁게 활동할 수 있도록.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PRESSCO21은 협회와 함께 그 환경을 만들어가고 싶습니다.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2103120"/>
            <a:ext cx="45720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solidFill>
            <a:srgbClr val="5A2438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242316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14600" y="2441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PRESSCO21 (프레스코21)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2679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4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foreverlove.co.kr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91693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14600" y="2935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담당자: 장지호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341071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📞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1460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010-9848-5520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390448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✉️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14600" y="39227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pressco5755@naver.com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PRESSCO21 x 꽃공예 협회 파트너십 제안서</dc:title>
  <dc:subject>협회 제휴 제안</dc:subject>
  <dc:creator>PRESSCO21</dc:creator>
  <cp:lastModifiedBy>PRESSCO21</cp:lastModifiedBy>
  <cp:revision>1</cp:revision>
  <dcterms:created xsi:type="dcterms:W3CDTF">2026-03-03T17:17:04Z</dcterms:created>
  <dcterms:modified xsi:type="dcterms:W3CDTF">2026-03-03T17:17:04Z</dcterms:modified>
</cp:coreProperties>
</file>